
<file path=[Content_Types].xml><?xml version="1.0" encoding="utf-8"?>
<Types xmlns="http://schemas.openxmlformats.org/package/2006/content-types">
  <Default Extension="png" ContentType="image/png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1"/>
    <p:sldId id="257" r:id="rIdS2"/>
    <p:sldId id="258" r:id="rIdS3"/>
    <p:sldId id="259" r:id="rIdS4"/>
  </p:sldIdLst>
  <p:sldSz cx="12192000" cy="6858000"/>
  <p:defaultTextStyle>
    <a:lvl1pPr>
      <a:defRPr sz="1600"/>
    </a:lvl1pPr>
  </p:defaultTextStyle>
</p:presentation>
</file>

<file path=ppt/tableStyles.xml><?xml version="1.0" encoding="utf-8"?>
<a:tblStyleLst xmlns:a="http://schemas.openxmlformats.org/drawingml/2006/main" xmlns:r="http://schemas.openxmlformats.org/officeDocument/2006/relationships" xmlns:p="http://schemas.openxmlformats.org/presentationml/2006/main" def="{TEST-STYLE}">
  <a:tblStyle styleId="{TEST-STYLE}" styleName="Test">
    <a:wholeTbl>
      <a:tcTxStyle>
        <a:schemeClr val="dk1"/>
      </a:tcTxStyle>
      <a:tcStyle>
        <a:tcBdr>
          <a:insideH>
            <a:ln w="12700">
              <a:solidFill>
                <a:srgbClr val="9E9E9E"/>
              </a:solidFill>
            </a:ln>
          </a:insideH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firstRow>
      <a:tcTxStyle b="on">
        <a:schemeClr val="lt1"/>
      </a:tcTxStyle>
      <a:tcStyle>
        <a:fill>
          <a:solidFill>
            <a:schemeClr val="accent1"/>
          </a:solidFill>
        </a:fill>
      </a:tcStyle>
    </a:firstRow>
  </a:tblStyle>
</a:tblStyleLst>
</file>

<file path=ppt/_rels/presentation.xml.rels><?xml version="1.0" encoding="UTF-8"?><Relationships xmlns="http://schemas.openxmlformats.org/package/2006/relationships"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c:chart>
    <c:title>
      <c:tx>
        <c:rich>
          <a:p>
            <a:r>
              <a:t>Gain by channel</a:t>
            </a:r>
          </a:p>
        </c:rich>
      </c:tx>
    </c:title>
    <c:plotArea>
      <c:barChart>
        <c:ser>
          <c:tx>
            <c:strRef>
              <c:strCache>
                <c:pt idx="0">
                  <c:v>Run A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strCache>
                <c:pt idx="0">
                  <c:v>Ch 12</c:v>
                </c:pt>
                <c:pt idx="1">
                  <c:v>Ch 13</c:v>
                </c:pt>
              </c:strCache>
            </c:strRef>
          </c:cat>
          <c:val>
            <c:numRef>
              <c:numCache>
                <c:pt idx="0">
                  <c:v>1.02</c:v>
                </c:pt>
                <c:pt idx="1">
                  <c:v>0.98</c:v>
                </c:pt>
              </c:numCache>
            </c:numRef>
          </c:val>
        </c:ser>
        <c:ser>
          <c:tx>
            <c:strRef>
              <c:strCache>
                <c:pt idx="0">
                  <c:v>Run B</c:v>
                </c:pt>
              </c:strCache>
            </c:strRef>
          </c:tx>
          <c:cat>
            <c:strRef>
              <c:strCache>
                <c:pt idx="0">
                  <c:v>Ch 12</c:v>
                </c:pt>
                <c:pt idx="1">
                  <c:v>Ch 13</c:v>
                </c:pt>
              </c:strCache>
            </c:strRef>
          </c:cat>
          <c:val>
            <c:numRef>
              <c:numCache>
                <c:pt idx="0">
                  <c:v>1.01</c:v>
                </c:pt>
                <c:pt idx="1">
                  <c:v>0.97</c:v>
                </c:pt>
              </c:numCache>
            </c:numRef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 xmlns:p="http://schemas.openxmlformats.org/presentationml/2006/main">
  <dgm:ptLst>
    <dgm:pt modelId="0" type="doc"/>
    <dgm:pt modelId="1">
      <dgm:t>
        <a:bodyPr/>
        <a:p>
          <a:r>
            <a:t>Plan</a:t>
          </a:r>
        </a:p>
      </dgm:t>
    </dgm:pt>
    <dgm:pt modelId="2">
      <dgm:t>
        <a:bodyPr/>
        <a:p>
          <a:r>
            <a:t>Build</a:t>
          </a:r>
        </a:p>
      </dgm:t>
    </dgm:pt>
    <dgm:pt modelId="3" type="parTrans">
      <dgm:t>
        <a:bodyPr/>
        <a:p>
          <a:r>
            <a:t>ignored</a:t>
          </a:r>
        </a:p>
      </dgm:t>
    </dgm:pt>
    <dgm:pt modelId="4">
      <dgm:t>
        <a:bodyPr/>
        <a:p>
          <a:r>
            <a:t>Test</a:t>
          </a:r>
        </a:p>
      </dgm:t>
    </dgm:pt>
  </dgm:ptLst>
</dgm:dataModel>
</file>

<file path=ppt/diagrams/data2.xml><?xml version="1.0" encoding="utf-8"?>
<dgm:dataModel xmlns:dgm="http://schemas.openxmlformats.org/drawingml/2006/diagram" xmlns:a="http://schemas.openxmlformats.org/drawingml/2006/main" xmlns:r="http://schemas.openxmlformats.org/officeDocument/2006/relationships" xmlns:p="http://schemas.openxmlformats.org/presentationml/2006/main">
  <dgm:ptLst>
    <dgm:pt modelId="0" type="doc"/>
    <dgm:pt modelId="1">
      <dgm:t>
        <a:bodyPr/>
        <a:p>
          <a:r>
            <a:t>Step A</a:t>
          </a:r>
        </a:p>
      </dgm:t>
    </dgm:pt>
    <dgm:pt modelId="2">
      <dgm:t>
        <a:bodyPr/>
        <a:p>
          <a:r>
            <a:t>Step B</a:t>
          </a:r>
        </a:p>
      </dgm:t>
    </dgm:pt>
  </dgm:ptLst>
  <dgm:extLst>
    <a:ext uri="http://schemas.microsoft.com/office/drawing/2008/diagram">
      <dsp:dataModelExt xmlns:dsp="http://schemas.microsoft.com/office/drawing/2008/diagram" relId="rIdDraw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a="http://schemas.openxmlformats.org/drawingml/2006/main" xmlns:r="http://schemas.openxmlformats.org/officeDocument/2006/relationships" xmlns:p="http://schemas.openxmlformats.org/presentationml/2006/main">
  <dsp:spTree>
    <dsp:nvGrpSpPr>
      <dsp:cNvPr id="0" name=""/>
      <dsp:cNvGrpSpPr/>
    </dsp:nvGrpSpPr>
    <dsp:grpSpPr/>
    <dsp:sp modelId="{0}">
      <dsp:nvSpPr>
        <dsp:cNvPr id="0" name=""/>
        <dsp:cNvSpPr/>
      </dsp:nvSpPr>
      <dsp:spPr>
        <a:xfrm>
          <a:off x="0" y="0"/>
          <a:ext cx="2286000" cy="914400"/>
        </a:xfrm>
        <a:prstGeom prst="roundRect">
          <a:avLst/>
        </a:prstGeom>
        <a:solidFill>
          <a:schemeClr val="accent1"/>
        </a:solidFill>
      </dsp:spPr>
      <dsp:txBody>
        <a:bodyPr anchor="ctr"/>
        <a:p>
          <a:r>
            <a:rPr lang="en-US" sz="2000">
              <a:solidFill>
                <a:srgbClr val="FFFFFF"/>
              </a:solidFill>
            </a:rPr>
            <a:t>Step A</a:t>
          </a:r>
        </a:p>
      </dsp:txBody>
    </dsp:sp>
    <dsp:sp modelId="{1}">
      <dsp:nvSpPr>
        <dsp:cNvPr id="0" name=""/>
        <dsp:cNvSpPr/>
      </dsp:nvSpPr>
      <dsp:spPr>
        <a:xfrm>
          <a:off x="2743200" y="0"/>
          <a:ext cx="2286000" cy="914400"/>
        </a:xfrm>
        <a:prstGeom prst="roundRect">
          <a:avLst/>
        </a:prstGeom>
        <a:solidFill>
          <a:schemeClr val="accent1"/>
        </a:solidFill>
      </dsp:spPr>
      <dsp:txBody>
        <a:bodyPr anchor="ctr"/>
        <a:p>
          <a:r>
            <a:rPr lang="en-US" sz="2000">
              <a:solidFill>
                <a:srgbClr val="FFFFFF"/>
              </a:solidFill>
            </a:rPr>
            <a:t>Step B</a:t>
          </a:r>
        </a:p>
      </dsp:txBody>
    </dsp:sp>
  </dsp:spTree>
</dsp:drawing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Notes"/>
          <p:cNvSpPr/>
          <p:nvPr>
            <p:ph type="body" idx="1"/>
          </p:nvPr>
        </p:nvSpPr>
        <p:txBody>
          <a:bodyPr/>
          <a:p>
            <a:r>
              <a:rPr lang="en-US"/>
              <a:t>Designed slide notes</a:t>
            </a:r>
          </a:p>
        </p:txBody>
      </p:sp>
    </p:spTree>
  </p:cSld>
</p:notes>
</file>

<file path=ppt/slideLayouts/_rels/slideLayout1.xml.rels><?xml version="1.0" encoding="UTF-8"?><Relationships xmlns="http://schemas.openxmlformats.org/package/2006/relationships"><Relationship Id="rIdM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M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>
    <p:spTree/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>
    <p:spTree>
      <p:sp>
        <p:nvSpPr>
          <p:cNvPr id="9" name="S9"/>
          <p:cNvSpPr/>
          <p:nvPr>
            <p:ph idx="1"/>
          </p:nvPr>
        </p:nvSpPr>
        <p:spPr>
          <a:xfrm>
            <a:off x="457200" y="1371600"/>
            <a:ext cx="3657600" cy="914400"/>
          </a:xfrm>
        </p:spPr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<Relationships xmlns="http://schemas.openxmlformats.org/package/2006/relationships"><Relationship Id="rIdT" Type="http://schemas.openxmlformats.org/officeDocument/2006/relationships/theme" Target="../theme/theme1.xml"/><Relationship Id="rIdLogo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sp>
        <p:nvSpPr>
          <p:cNvPr id="2" name="S2"/>
          <p:cNvSpPr/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 anchor="b"/>
          <a:p>
            <a:r>
              <a:rPr lang="en-US"/>
              <a:t/>
            </a:r>
          </a:p>
        </p:txBody>
      </p:sp>
      <p:pic>
        <p:nvPicPr>
          <p:cNvPr id="3" name="Logo"/>
          <p:cNvPicPr/>
          <p:nvPr/>
        </p:nvPicPr>
        <p:blipFill>
          <a:blip r:embed="rIdLogo"/>
        </p:blipFill>
        <p:spPr>
          <a:xfrm>
            <a:off x="11155680" y="6217920"/>
            <a:ext cx="822960" cy="457200"/>
          </a:xfrm>
        </p:spPr>
      </p:pic>
      <p:sp>
        <p:nvSpPr>
          <p:cNvPr id="4" name="Bar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chemeClr val="accent1"/>
          </a:solidFill>
        </p:spPr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>
        <a:defRPr sz="3600">
          <a:solidFill>
            <a:schemeClr val="tx2"/>
          </a:solidFill>
        </a:defRPr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L" Type="http://schemas.openxmlformats.org/officeDocument/2006/relationships/slideLayout" Target="../slideLayouts/slideLayout2.xml"/><Relationship Id="rIdImg" Type="http://schemas.openxmlformats.org/officeDocument/2006/relationships/image" Target="../media/image1.png"/><Relationship Id="rIdLink" Type="http://schemas.openxmlformats.org/officeDocument/2006/relationships/hyperlink" Target="https://example.test/run" TargetMode="External"/></Relationships>
</file>

<file path=ppt/slides/_rels/slide3.xml.rels><?xml version="1.0" encoding="UTF-8"?><Relationships xmlns="http://schemas.openxmlformats.org/package/2006/relationships"><Relationship Id="rIdL" Type="http://schemas.openxmlformats.org/officeDocument/2006/relationships/slideLayout" Target="../slideLayouts/slideLayout2.xml"/><Relationship Id="rIdChart" Type="http://schemas.openxmlformats.org/officeDocument/2006/relationships/chart" Target="../charts/chart1.xml"/><Relationship Id="rIdDm" Type="http://schemas.openxmlformats.org/officeDocument/2006/relationships/diagramData" Target="../diagrams/data1.xml"/></Relationships>
</file>

<file path=ppt/slides/_rels/slide4.xml.rels><?xml version="1.0" encoding="UTF-8"?><Relationships xmlns="http://schemas.openxmlformats.org/package/2006/relationships"><Relationship Id="rIdL" Type="http://schemas.openxmlformats.org/officeDocument/2006/relationships/slideLayout" Target="../slideLayouts/slideLayout2.xml"/><Relationship Id="rIdN" Type="http://schemas.openxmlformats.org/officeDocument/2006/relationships/notesSlide" Target="../notesSlides/notesSlide4.xml"/><Relationship Id="rIdDm" Type="http://schemas.openxmlformats.org/officeDocument/2006/relationships/diagramData" Target="../diagrams/data2.xml"/><Relationship Id="rIdDraw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2"/>
          <p:cNvSpPr/>
          <p:nvPr>
            <p:ph type="ctrTitle"/>
          </p:nvPr>
        </p:nvSpPr>
        <p:txBody>
          <a:bodyPr/>
          <a:p>
            <a:r>
              <a:rPr lang="en-US"/>
              <a:t>Quarterly review</a:t>
            </a:r>
          </a:p>
        </p:txBody>
      </p:sp>
      <p:sp>
        <p:nvSpPr>
          <p:cNvPr id="3" name="S3"/>
          <p:cNvSpPr/>
          <p:nvPr>
            <p:ph type="subTitle" idx="1"/>
          </p:nvPr>
        </p:nvSpPr>
        <p:txBody>
          <a:bodyPr/>
          <a:p>
            <a:pPr algn="ctr"/>
            <a:r>
              <a:rPr lang="en-US"/>
              <a:t>Detector group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2"/>
          <p:cNvSpPr/>
          <p:nvPr>
            <p:ph type="title"/>
          </p:nvPr>
        </p:nvSpPr>
        <p:txBody>
          <a:bodyPr/>
          <a:p>
            <a:r>
              <a:rPr lang="en-US"/>
              <a:t>Results</a:t>
            </a:r>
          </a:p>
        </p:txBody>
      </p:sp>
      <p:pic>
        <p:nvPicPr>
          <p:cNvPr id="3" name="Picture"/>
          <p:cNvPicPr/>
          <p:nvPr/>
        </p:nvPicPr>
        <p:blipFill>
          <a:blip r:embed="rIdImg"/>
        </p:blipFill>
        <p:spPr>
          <a:xfrm>
            <a:off x="457200" y="3200400"/>
            <a:ext cx="3657600" cy="914400"/>
          </a:xfrm>
        </p:spPr>
      </p:pic>
      <p:sp>
        <p:nvSpPr>
          <p:cNvPr id="4" name="S4"/>
          <p:cNvSpPr txBox="1"/>
          <p:nvPr/>
        </p:nvSpPr>
        <p:spPr>
          <a:xfrm>
            <a:off x="4572000" y="1371600"/>
            <a:ext cx="3657600" cy="914400"/>
          </a:xfrm>
        </p:spPr>
        <p:txBody>
          <a:bodyPr/>
          <a:p>
            <a:r>
              <a:rPr lang="en-US"/>
              <a:t>Right column</a:t>
            </a:r>
          </a:p>
        </p:txBody>
      </p:sp>
      <p:sp>
        <p:nvSpPr>
          <p:cNvPr id="5" name="S5"/>
          <p:cNvSpPr/>
          <p:nvPr>
            <p:ph idx="1"/>
          </p:nvPr>
        </p:nvSpPr>
        <p:txBody>
          <a:bodyPr/>
          <a:p>
            <a:r>
              <a:rPr lang="en-US"/>
              <a:t>Gain stable</a:t>
            </a:r>
          </a:p>
          <a:p>
            <a:pPr lvl="1"/>
            <a:r>
              <a:rPr lang="en-US"/>
              <a:t>Channel 12 fixed</a:t>
            </a:r>
          </a:p>
          <a:p>
            <a:pPr>
              <a:buAutoNum type="arabicPeriod" startAt="3"/>
            </a:pPr>
            <a:r>
              <a:rPr lang="en-US"/>
              <a:t>Third step</a:t>
            </a:r>
          </a:p>
          <a:p>
            <a:pPr>
              <a:buAutoNum type="arabicPeriod" startAt="3"/>
            </a:pPr>
            <a:r>
              <a:rPr lang="en-US"/>
              <a:t>Fourth step</a:t>
            </a:r>
          </a:p>
          <a:p>
            <a:pPr>
              <a:buNone/>
            </a:pPr>
            <a:r>
              <a:rPr lang="en-US">
                <a:solidFill>
                  <a:srgbClr val="C00000"/>
                </a:solidFill>
              </a:rPr>
              <a:t>critical</a:t>
            </a: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 accent</a:t>
            </a:r>
            <a:r>
              <a:rPr lang="en-US">
                <a:solidFill>
                  <a:srgbClr val="000000"/>
                </a:solidFill>
              </a:rPr>
              <a:t> plain</a:t>
            </a:r>
          </a:p>
          <a:p>
            <a:pPr>
              <a:buNone/>
            </a:pPr>
            <a:r>
              <a:rPr lang="en-US">
                <a:highlight>
                  <a:srgbClr val="FFFF00"/>
                </a:highlight>
              </a:rPr>
              <a:t>flagged</a:t>
            </a:r>
            <a:r>
              <a:rPr lang="en-US">
                <a:hlinkClick r:id="rIdLink"/>
              </a:rPr>
              <a:t> run log</a:t>
            </a:r>
            <a:r>
              <a:rPr lang="en-US" strike="sngStrike"/>
              <a:t> old value</a:t>
            </a:r>
          </a:p>
        </p:txBody>
      </p:sp>
      <p:sp>
        <p:nvSpPr>
          <p:cNvPr id="6" name="S6"/>
          <p:cNvSpPr txBox="1"/>
          <p:nvPr/>
        </p:nvSpPr>
        <p:spPr>
          <a:xfrm>
            <a:off x="457200" y="4572000"/>
            <a:ext cx="3657600" cy="914400"/>
          </a:xfrm>
        </p:spPr>
        <p:txBody>
          <a:bodyPr/>
          <a:p>
            <a:r>
              <a:rPr lang="en-US" sz="3600"/>
              <a:t>Big takeaway</a:t>
            </a:r>
          </a:p>
        </p:txBody>
      </p:sp>
      <p:sp>
        <p:nvSpPr>
          <p:cNvPr id="7" name="S7"/>
          <p:cNvSpPr txBox="1"/>
          <p:nvPr/>
        </p:nvSpPr>
        <p:spPr>
          <a:xfrm>
            <a:off x="457200" y="5486400"/>
            <a:ext cx="3657600" cy="914400"/>
          </a:xfrm>
        </p:spPr>
        <p:txBody>
          <a:bodyPr/>
          <a:p>
            <a:pPr algn="ctr"/>
            <a:r>
              <a:rPr lang="en-US"/>
              <a:t>Centered note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2"/>
          <p:cNvSpPr/>
          <p:nvPr>
            <p:ph type="title"/>
          </p:nvPr>
        </p:nvSpPr>
        <p:txBody>
          <a:bodyPr/>
          <a:p>
            <a:r>
              <a:rPr lang="en-US"/>
              <a:t>Data</a:t>
            </a:r>
          </a:p>
        </p:txBody>
      </p:sp>
      <p:graphicFrame>
        <p:nvGraphicFramePr>
          <p:cNvPr id="3" name="Table"/>
          <p:cNvGraphicFramePr/>
          <p:nvPr/>
        </p:nvGraphicFramePr>
        <p:xfrm>
          <a:off x="457200" y="1371600"/>
          <a:ext cx="3657600" cy="914400"/>
        </p:xfrm>
        <a:graphic>
          <a:graphicData uri="http://schemas.openxmlformats.org/drawingml/2006/table">
            <a:tbl>
              <a:tblPr firstRow="1"/>
              <a:tr>
                <a:tc gridSpan="2">
                  <a:txBody>
                    <a:bodyPr/>
                    <a:p>
                      <a:r>
                        <a:rPr lang="en-US"/>
                        <a:t>Run summary</a:t>
                      </a:r>
                    </a:p>
                  </a:txBody>
                </a:tc>
                <a:tc hMerge="1">
                  <a:txBody>
                    <a:bodyPr/>
                    <a:p>
                      <a:r>
                        <a:rPr lang="en-US"/>
                        <a:t/>
                      </a:r>
                    </a:p>
                  </a:txBody>
                </a:tc>
              </a:tr>
              <a:tr>
                <a:tc>
                  <a:txBody>
                    <a:bodyPr/>
                    <a:p>
                      <a:r>
                        <a:rPr lang="en-US"/>
                        <a:t>Gain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1.02</a:t>
                      </a:r>
                    </a:p>
                    <a:p>
                      <a:r>
                        <a:rPr lang="en-US"/>
                        <a:t>stable</a:t>
                      </a:r>
                    </a:p>
                  </a:txBody>
                </a:tc>
              </a:tr>
            </a:tbl>
          </a:graphicData>
        </a:graphic>
      </p:graphicFrame>
      <p:graphicFrame>
        <p:nvGraphicFramePr>
          <p:cNvPr id="4" name="Chart"/>
          <p:cNvGraphicFramePr/>
          <p:nvPr/>
        </p:nvGraphicFramePr>
        <p:xfrm>
          <a:off x="457200" y="2743200"/>
          <a:ext cx="3657600" cy="9144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  <p:graphicFrame>
        <p:nvGraphicFramePr>
          <p:cNvPr id="5" name="SmartArt"/>
          <p:cNvGraphicFramePr/>
          <p:nvPr/>
        </p:nvGraphicFramePr>
        <p:xfrm>
          <a:off x="457200" y="4572000"/>
          <a:ext cx="3657600" cy="914400"/>
        </p:xfrm>
        <a:graphic>
          <a:graphicData uri="http://schemas.openxmlformats.org/drawingml/2006/diagram">
            <dgm:relIds xmlns:dgm="http://schemas.openxmlformats.org/drawingml/2006/diagram" r:dm="rIdDm" r:lo="x" r:qs="x" r:cs="x"/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2"/>
          <p:cNvSpPr/>
          <p:nvPr>
            <p:ph type="title"/>
          </p:nvPr>
        </p:nvSpPr>
        <p:txBody>
          <a:bodyPr/>
          <a:p>
            <a:r>
              <a:rPr lang="en-US"/>
              <a:t>Design</a:t>
            </a:r>
          </a:p>
        </p:txBody>
      </p:sp>
      <p:grpSp>
        <p:nvGrpSpPr>
          <p:cNvPr id="3" name="Group"/>
          <p:cNvGrpSpPr/>
          <p:nvPr/>
        </p:nvGrpSpPr>
        <p:grpSpPr>
          <a:xfrm>
            <a:off x="914400" y="1828800"/>
            <a:ext cx="3657600" cy="1828800"/>
            <a:chOff x="0" y="0"/>
            <a:chExt cx="1828800" cy="914400"/>
          </a:xfrm>
        </p:grpSpPr>
        <p:sp>
          <p:nvSpPr>
            <p:cNvPr id="4" name="Box"/>
            <p:cNvSpPr/>
            <p:nvPr/>
          </p:nvSpPr>
          <p:spPr>
            <a:xfrm>
              <a:off x="0" y="0"/>
              <a:ext cx="914400" cy="457200"/>
            </a:xfrm>
            <a:prstGeom prst="roundRect">
              <a:avLst/>
            </a:prstGeom>
            <a:solidFill>
              <a:schemeClr val="accent2"/>
            </a:solidFill>
          </p:spPr>
          <p:txBody>
            <a:bodyPr anchor="ctr"/>
            <a:p>
              <a:r>
                <a:rPr lang="en-US"/>
                <a:t>Grouped box</a:t>
              </a:r>
            </a:p>
          </p:txBody>
        </p:sp>
      </p:grpSp>
      <p:cxnSp>
        <p:nvCxnSpPr>
          <p:cNvPr id="5" name="Arrow"/>
          <p:cNvCxnSpPr/>
          <p:nvPr/>
        </p:nvCxnSpPr>
        <p:spPr>
          <a:xfrm flipV="1">
            <a:off x="5029200" y="2743200"/>
            <a:ext cx="1828800" cy="0"/>
          </a:xfrm>
          <a:prstGeom prst="straightConnector1">
            <a:avLst/>
          </a:prstGeom>
          <a:ln w="25400">
            <a:solidFill>
              <a:srgbClr val="333333"/>
            </a:solidFill>
            <a:tailEnd type="triangle"/>
          </a:ln>
        </p:spPr>
      </p:cxnSp>
      <p:sp>
        <p:nvSpPr>
          <p:cNvPr id="6" name="S6"/>
          <p:cNvSpPr txBox="1"/>
          <p:nvPr/>
        </p:nvSpPr>
        <p:spPr>
          <a:xfrm>
            <a:off x="7315200" y="1828800"/>
            <a:ext cx="3657600" cy="914400"/>
          </a:xfrm>
        </p:spPr>
        <p:txBody>
          <a:bodyPr/>
          <a:p>
            <a:r>
              <a:rPr lang="en-US" sz="2400"/>
              <a:t>Big</a:t>
            </a:r>
            <a:r>
              <a:rPr lang="en-US" sz="1200"/>
              <a:t> small</a:t>
            </a:r>
            <a:r>
              <a:rPr lang="en-US" sz="2400"/>
              <a:t> again</a:t>
            </a:r>
          </a:p>
        </p:txBody>
      </p:sp>
      <p:sp>
        <p:nvSpPr>
          <p:cNvPr id="8" name="S8"/>
          <p:cNvSpPr txBox="1"/>
          <p:nvPr/>
        </p:nvSpPr>
        <p:spPr>
          <a:xfrm>
            <a:off x="7315200" y="2926080"/>
            <a:ext cx="3657600" cy="548640"/>
          </a:xfrm>
        </p:spPr>
        <p:txBody>
          <a:bodyPr/>
          <a:p>
            <a:r>
              <a:rPr lang="en-US"/>
              <a:t>Plain then </a:t>
            </a:r>
            <a:r>
              <a:rPr lang="en-US">
                <a:latin typeface="Courier New"/>
              </a:rPr>
              <a:t>code</a:t>
            </a:r>
          </a:p>
        </p:txBody>
      </p:sp>
      <p:sp>
        <p:nvSpPr>
          <p:cNvPr id="9" name="Glass"/>
          <p:cNvSpPr/>
          <p:nvPr/>
        </p:nvSpPr>
        <p:spPr>
          <a:xfrm>
            <a:off x="8229600" y="3840480"/>
            <a:ext cx="1828800" cy="1097280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</p:sp>
      <p:graphicFrame>
        <p:nvGraphicFramePr>
          <p:cNvPr id="10" name="Styled table"/>
          <p:cNvGraphicFramePr/>
          <p:nvPr/>
        </p:nvGraphicFramePr>
        <p:xfrm>
          <a:off x="7315200" y="5120640"/>
          <a:ext cx="914400" cy="914400"/>
        </p:xfrm>
        <a:graphic>
          <a:graphicData uri="http://schemas.openxmlformats.org/drawingml/2006/table">
            <a:tbl>
              <a:tblPr firstRow="1" bandRow="1">
                <a:tableStyleId>{TEST-STYLE}</a:tableStyleId>
              </a:tblPr>
              <a:tblGrid>
                <a:gridCol w="1828800"/>
                <a:gridCol w="914400"/>
              </a:tblGrid>
              <a:tr h="304800">
                <a:tc>
                  <a:txBody>
                    <a:bodyPr/>
                    <a:p>
                      <a:r>
                        <a:rPr lang="en-US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/>
                        <a:t>Gain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/>
                        <a:t>1.02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/>
                        <a:t>0.98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/>
                        <a:t>1.01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SmartArt"/>
          <p:cNvGraphicFramePr/>
          <p:nvPr/>
        </p:nvGraphicFramePr>
        <p:xfrm>
          <a:off x="914400" y="4572000"/>
          <a:ext cx="5486400" cy="914400"/>
        </p:xfrm>
        <a:graphic>
          <a:graphicData uri="http://schemas.openxmlformats.org/drawingml/2006/diagram">
            <dgm:relIds xmlns:dgm="http://schemas.openxmlformats.org/drawingml/2006/diagram" r:dm="rIdDm" r:lo="x" r:qs="x" r:cs="x"/>
          </a:graphicData>
        </a:graphic>
      </p:graphicFrame>
    </p:spTree>
  </p:cSld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st">
  <a:themeElements>
    <a:clrScheme name="Tes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</a:clrScheme>
    <a:fontScheme name="Test">
      <a:majorFont>
        <a:latin typeface="Georgia"/>
      </a:majorFont>
      <a:minorFont>
        <a:latin typeface="Verdana"/>
      </a:minorFont>
    </a:fontScheme>
  </a:themeElements>
</a:theme>
</file>